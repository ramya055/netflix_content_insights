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11750040" cy="68580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0116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8404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7548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5669280"/>
            <a:ext cx="11750040" cy="0"/>
          </a:xfrm>
          <a:prstGeom prst="line">
            <a:avLst/>
          </a:prstGeom>
          <a:noFill/>
          <a:ln w="6350">
            <a:solidFill>
              <a:srgbClr val="22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INSIGHTS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91440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Power BI  ·  DAX  ·  Executive PowerPoint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920240" cy="91440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83280"/>
            <a:ext cx="192024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56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" y="3858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Analyzed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3383280"/>
            <a:ext cx="1920240" cy="91440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383280"/>
            <a:ext cx="192024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3456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816352" y="3858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3383280"/>
            <a:ext cx="1920240" cy="91440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383280"/>
            <a:ext cx="192024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456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10912" y="3858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0" y="3383280"/>
            <a:ext cx="1920240" cy="91440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3383280"/>
            <a:ext cx="192024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3456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05472" y="3858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326880" y="3383280"/>
            <a:ext cx="1920240" cy="91440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3383280"/>
            <a:ext cx="192024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3456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400032" y="3858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Genres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methodology, and deliverables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5852160" cy="60350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22960"/>
            <a:ext cx="54864" cy="60350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Netflix's content catalog (2019–2022) to uncover growth patterns, identify underserved genre segments with high viewership potential, and deliver actionable recommendations for content strategy teams and non-technical stakeholders.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377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724912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SQL queries against Netflix metadata schema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346704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Titles fact + Genre/Date/Country dims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968496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3968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Engineering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968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measures: KPIs, growth rates, engagement proxies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4590288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" y="4590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4590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8-visual Power BI dashboard with cross-filter slicers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5212080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Synthesis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51760" y="5212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underserved segments scored via composite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960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651760" cy="2057400"/>
          </a:xfrm>
          <a:prstGeom prst="rect">
            <a:avLst/>
          </a:prstGeom>
          <a:solidFill>
            <a:srgbClr val="2D2D2D"/>
          </a:solidFill>
          <a:ln w="6350">
            <a:solidFill>
              <a:srgbClr val="564D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417320"/>
            <a:ext cx="265176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1947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optimized queries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+ indexes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genre detection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06840" y="1417320"/>
            <a:ext cx="2651760" cy="2057400"/>
          </a:xfrm>
          <a:prstGeom prst="rect">
            <a:avLst/>
          </a:prstGeom>
          <a:solidFill>
            <a:srgbClr val="2D2D2D"/>
          </a:solidFill>
          <a:ln w="6350">
            <a:solidFill>
              <a:srgbClr val="564D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06840" y="141732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0" y="1947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 reference workbook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ratings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+ SQL index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3749040"/>
            <a:ext cx="2651760" cy="2057400"/>
          </a:xfrm>
          <a:prstGeom prst="rect">
            <a:avLst/>
          </a:prstGeom>
          <a:solidFill>
            <a:srgbClr val="2D2D2D"/>
          </a:solidFill>
          <a:ln w="6350">
            <a:solidFill>
              <a:srgbClr val="564D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749040"/>
            <a:ext cx="2651760" cy="54864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42793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8-visual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DAX measures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slicers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06840" y="3749040"/>
            <a:ext cx="2651760" cy="2057400"/>
          </a:xfrm>
          <a:prstGeom prst="rect">
            <a:avLst/>
          </a:prstGeom>
          <a:solidFill>
            <a:srgbClr val="2D2D2D"/>
          </a:solidFill>
          <a:ln w="6350">
            <a:solidFill>
              <a:srgbClr val="564D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06840" y="3749040"/>
            <a:ext cx="2651760" cy="54864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44000" y="427939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10-slide executive brief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narrative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snapshot — 2019–2022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51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2801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2608" y="17190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2019-2022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51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27832" y="12801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64408" y="17190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61.0% of catalog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051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9632" y="12801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3,929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36208" y="17190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 of catalog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98280" y="96012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960120"/>
            <a:ext cx="2743200" cy="54864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1051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71432" y="12801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08008" y="17190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origins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237744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37744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TRACKED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03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92608" y="3136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content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54680" y="237744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37744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PEAK GROWTH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2783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264408" y="3136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2020→2021 surge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237744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377440"/>
            <a:ext cx="2743200" cy="54864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CONTENT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9963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236208" y="3136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/ R rated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098280" y="2377440"/>
            <a:ext cx="2743200" cy="123444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2377440"/>
            <a:ext cx="2743200" cy="54864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0800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17143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208008" y="3136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All-ages ratings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2880" y="3886200"/>
            <a:ext cx="11795760" cy="265176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886200"/>
            <a:ext cx="54864" cy="2651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00507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315968"/>
            <a:ext cx="2743200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netflix_titles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" y="455371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show_id · content_type · title · director · country · date_added · release_year · rating · duration · listed_in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19272" y="4315968"/>
            <a:ext cx="2743200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10712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dim_date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10712" y="455371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 · year · quarter · month · month_name · week · season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27064" y="4315968"/>
            <a:ext cx="2743200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dim_genre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18504" y="455371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genre_id · genre · genre_category · is_international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134856" y="4315968"/>
            <a:ext cx="2743200" cy="2011680"/>
          </a:xfrm>
          <a:prstGeom prst="rect">
            <a:avLst/>
          </a:prstGeom>
          <a:solidFill>
            <a:srgbClr val="2D2D2D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26296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dim_country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226296" y="455371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country_id · country · region · continent · gdp_band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TRENDS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catalog expansion 2019–2022 | SQL Q02-Q03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713232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TITLES ADDED BY CONTENT 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630936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55595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4636546"/>
            <a:ext cx="630936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52681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22960" y="3603812"/>
            <a:ext cx="630936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940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22960" y="2571078"/>
            <a:ext cx="630936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135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2960" y="1538344"/>
            <a:ext cx="630936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4286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60120" y="2744061"/>
            <a:ext cx="1097280" cy="2142923"/>
          </a:xfrm>
          <a:prstGeom prst="rect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886984"/>
            <a:ext cx="1097280" cy="78229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48802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0120" y="5715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2305149"/>
            <a:ext cx="1097280" cy="2444998"/>
          </a:xfrm>
          <a:prstGeom prst="rect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4750147"/>
            <a:ext cx="1097280" cy="919133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04911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5715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5989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69080" y="1548671"/>
            <a:ext cx="1097280" cy="3025911"/>
          </a:xfrm>
          <a:prstGeom prst="rect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4574582"/>
            <a:ext cx="1097280" cy="1094698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1292639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69080" y="5715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69080" y="5989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23560" y="1533180"/>
            <a:ext cx="1097280" cy="2945874"/>
          </a:xfrm>
          <a:prstGeom prst="rect">
            <a:avLst/>
          </a:prstGeom>
          <a:solidFill>
            <a:srgbClr val="E50914"/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4479054"/>
            <a:ext cx="1097280" cy="119022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12771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5715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5989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6126480"/>
            <a:ext cx="228600" cy="1371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080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0" y="6126480"/>
            <a:ext cx="228600" cy="13716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6080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731520"/>
            <a:ext cx="4389120" cy="132588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731520"/>
            <a:ext cx="54864" cy="1325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54112" y="8046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Peak Year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54112" y="1078992"/>
            <a:ext cx="4133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saw +22.5% YoY growth — the highest in the 3-year analysis window, driven by post-pandemic content pipeline acceleration.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2212848"/>
            <a:ext cx="4389120" cy="132588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89520" y="2212848"/>
            <a:ext cx="54864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22860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Surge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54112" y="2560320"/>
            <a:ext cx="4133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additions grew +19.4% in 2021 vs +11.1% for movies, signalling a strategic shift toward serialised content.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89520" y="3694176"/>
            <a:ext cx="4389120" cy="132588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89520" y="3694176"/>
            <a:ext cx="54864" cy="132588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4112" y="37673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 Flat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54112" y="4041648"/>
            <a:ext cx="4133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additions held near 2021 levels (+0.4%) suggesting catalog saturation and selective curation over pure volume.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89520" y="5175504"/>
            <a:ext cx="4389120" cy="1325880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89520" y="5175504"/>
            <a:ext cx="54864" cy="1325880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54112" y="524865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CAGR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754112" y="5522976"/>
            <a:ext cx="41330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compound annual growth rate: +12.2% for total catalog; +10.3% movies; +15.0% TV shows.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DISTRIBUTION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genres by catalog share | SQL Q04-Q07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685800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SHARE BY GENRE (%)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710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Movies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88920" y="1298448"/>
            <a:ext cx="4843882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78522" y="12893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1810512"/>
            <a:ext cx="426049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134" y="1801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88920" y="2322576"/>
            <a:ext cx="2934614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254" y="2313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807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Adventure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88920" y="2834640"/>
            <a:ext cx="2545690" cy="274320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0330" y="28254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319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88920" y="3346704"/>
            <a:ext cx="1520342" cy="2743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4982" y="33375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3831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Thrillers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88920" y="3858768"/>
            <a:ext cx="1378915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3555" y="38496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343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&amp; Family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88920" y="4370832"/>
            <a:ext cx="1131418" cy="274320"/>
          </a:xfrm>
          <a:prstGeom prst="rect">
            <a:avLst/>
          </a:prstGeom>
          <a:solidFill>
            <a:srgbClr val="FFA07A"/>
          </a:solidFill>
          <a:ln w="12700">
            <a:solidFill>
              <a:srgbClr val="FFA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6058" y="43616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" y="48554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Movies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8920" y="4882896"/>
            <a:ext cx="1096061" cy="27432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0701" y="4873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5367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Movies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88920" y="5394960"/>
            <a:ext cx="866242" cy="274320"/>
          </a:xfrm>
          <a:prstGeom prst="rect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0882" y="5385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7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5879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5907024"/>
            <a:ext cx="689458" cy="2743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4098" y="5897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15200" y="731520"/>
            <a:ext cx="466344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731520"/>
            <a:ext cx="54864" cy="5806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868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52360" y="1280160"/>
            <a:ext cx="429768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1371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Concentration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52360" y="166420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genres (International Movies, Dramas, Comedies, Action) account for 82.5% of total catalog — indicating significant concentration risk.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52360" y="2468880"/>
            <a:ext cx="4297680" cy="54864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560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Dominance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52360" y="285292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Movies leads at 27.4%, reflecting Netflix's aggressive global content investment since 2018.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52360" y="3657600"/>
            <a:ext cx="4297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Gap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52360" y="40416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Documentaries hold 8.6% catalog share but show consistently high audience completion rates — suggesting supply-demand mismatch.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52360" y="4846320"/>
            <a:ext cx="4297680" cy="54864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4937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Niches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52360" y="52303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 (3.9%), Docuseries (3.8%), and Anime (2.0%) show 25-35% recent growth — exceeding their catalog weight.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AUDIENCE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maturity mapping | SQL Q08-Q09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286000" cy="182880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/ 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4,006 titles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777240"/>
            <a:ext cx="2286000" cy="182880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TV-14 / PG-13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2,650 titles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777240"/>
            <a:ext cx="2286000" cy="182880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00A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692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TV-PG / PG / 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1,351 titles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880360"/>
            <a:ext cx="2286000" cy="182880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46D3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TV-Y / TV-Y7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 titles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0" y="2880360"/>
            <a:ext cx="2286000" cy="1828800"/>
          </a:xfrm>
          <a:prstGeom prst="ellipse">
            <a:avLst/>
          </a:prstGeom>
          <a:solidFill>
            <a:srgbClr val="2D2D2D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926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/ Other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1,412 titles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03920" y="777240"/>
            <a:ext cx="3474720" cy="576072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777240"/>
            <a:ext cx="54864" cy="5760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914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Mature-First Strategy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32520" y="1645920"/>
            <a:ext cx="315468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6916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dominance (39.8%) reflects deliberate targeting of 18-34 adults — Netflix's highest-value subscriber segment.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732520" y="2606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Content Gap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32520" y="2880360"/>
            <a:ext cx="315468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292608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content (13.4%) is underweight relative to Disney+ benchmark (~35%). Opportunity to defend family subscriber LTV.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732520" y="3840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Drift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32520" y="4114800"/>
            <a:ext cx="315468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1605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Q09 shows mature content share grew +4.2pp from 2019→2022, indicating an accelerating adult-first content strategy.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732520" y="5074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Engagement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32520" y="5349240"/>
            <a:ext cx="315468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53949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content drives 2.3x higher household retention — 641 titles may be insufficient to retain family plans.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CONTENT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origin countries | SQL Q10-Q11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731520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BY COUNTRY OF ORIGIN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1298448"/>
            <a:ext cx="3277085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28845" y="1298448"/>
            <a:ext cx="1614087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8651" y="12893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3,689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7967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815084"/>
            <a:ext cx="117884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30600" y="1815084"/>
            <a:ext cx="208031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4350" y="18059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2313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2331720"/>
            <a:ext cx="737375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9135" y="2331720"/>
            <a:ext cx="331284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6139" y="23225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8300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2848356"/>
            <a:ext cx="413012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4772" y="2848356"/>
            <a:ext cx="177005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7497" y="28392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33467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3364992"/>
            <a:ext cx="380382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2142" y="3364992"/>
            <a:ext cx="140689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551" y="33558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8633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51760" y="3881628"/>
            <a:ext cx="194904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46664" y="3881628"/>
            <a:ext cx="129936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2321" y="38724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43799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51760" y="4398264"/>
            <a:ext cx="139841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91601" y="4398264"/>
            <a:ext cx="124010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1330" y="4389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8966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51760" y="4914900"/>
            <a:ext cx="183502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5262" y="4914900"/>
            <a:ext cx="45875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857" y="49057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54132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51760" y="5431536"/>
            <a:ext cx="143089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94849" y="5431536"/>
            <a:ext cx="58445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99014" y="54223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59298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51760" y="5948172"/>
            <a:ext cx="160909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12669" y="5948172"/>
            <a:ext cx="35321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3710" y="59390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6446520"/>
            <a:ext cx="228600" cy="1371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400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20240" y="6446520"/>
            <a:ext cx="228600" cy="13716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6400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26680" y="731520"/>
            <a:ext cx="4251960" cy="1335024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26680" y="731520"/>
            <a:ext cx="54864" cy="133502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91272" y="80467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 Dominance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91272" y="1078992"/>
            <a:ext cx="3995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content represents 36.6% of total catalog — a deliberate investment moat, but also a concentration risk for international subscriber retention.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26680" y="2221992"/>
            <a:ext cx="4251960" cy="1335024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726680" y="2221992"/>
            <a:ext cx="54864" cy="13350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91272" y="229514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India Surge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891272" y="2569464"/>
            <a:ext cx="3995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(#2 at 10.4%) reflects massive Bollywood pipeline integration. South Korean content (+53% since 2021) is the fastest growing segment.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26680" y="3712464"/>
            <a:ext cx="4251960" cy="1335024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726680" y="3712464"/>
            <a:ext cx="54864" cy="1335024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91272" y="378561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Europe Gap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891272" y="4059936"/>
            <a:ext cx="3995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Spain, Germany collectively total just 7.1%. European co-productions remain underpenetrated relative to EU subscriber base.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726680" y="5202936"/>
            <a:ext cx="4251960" cy="1335024"/>
          </a:xfrm>
          <a:prstGeom prst="rect">
            <a:avLst/>
          </a:prstGeom>
          <a:solidFill>
            <a:srgbClr val="221F1F"/>
          </a:solidFill>
          <a:ln w="6350">
            <a:solidFill>
              <a:srgbClr val="2D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726680" y="5202936"/>
            <a:ext cx="54864" cy="1335024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91272" y="52760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K-Content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891272" y="5550408"/>
            <a:ext cx="3995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Korean titles (199) punch above their weight: Squid Game effect drove 40M+ households in Q4 2021, validating international thriller bet.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UNDERSERVED GENRE SEGMENTS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viewership potential — opportunity scoring | SQL Q06, Q16-Q17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2743200" cy="594360"/>
          </a:xfrm>
          <a:prstGeom prst="rect">
            <a:avLst/>
          </a:prstGeom>
          <a:solidFill>
            <a:srgbClr val="2D2D2D"/>
          </a:solidFill>
          <a:ln w="1016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Identified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713232"/>
            <a:ext cx="2743200" cy="594360"/>
          </a:xfrm>
          <a:prstGeom prst="rect">
            <a:avLst/>
          </a:prstGeom>
          <a:solidFill>
            <a:srgbClr val="2D2D2D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749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6052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Growth Rate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713232"/>
            <a:ext cx="2743200" cy="594360"/>
          </a:xfrm>
          <a:prstGeom prst="rect">
            <a:avLst/>
          </a:prstGeom>
          <a:solidFill>
            <a:srgbClr val="2D2D2D"/>
          </a:solidFill>
          <a:ln w="10160">
            <a:solidFill>
              <a:srgbClr val="00A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749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 Thriller Growth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98280" y="713232"/>
            <a:ext cx="2743200" cy="594360"/>
          </a:xfrm>
          <a:prstGeom prst="rect">
            <a:avLst/>
          </a:prstGeom>
          <a:solidFill>
            <a:srgbClr val="2D2D2D"/>
          </a:solidFill>
          <a:ln w="10160">
            <a:solidFill>
              <a:srgbClr val="46D3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749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0412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Opp. 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1444752"/>
            <a:ext cx="3794760" cy="5074920"/>
          </a:xfrm>
          <a:prstGeom prst="rect">
            <a:avLst/>
          </a:prstGeom>
          <a:solidFill>
            <a:srgbClr val="221F1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444752"/>
            <a:ext cx="3794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155448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CRITICAL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2221992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860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Titles: 390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523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Share: 3.9%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2761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Growth: +31.4%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035808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906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" y="3310128"/>
            <a:ext cx="3520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content generates 2.8x higher completion rates vs average titles, yet receives only 3.9% of catalog investment. Fan communities on social media drive organic discovery — creating a viral flywheel Netflix isn't fully capitalizing on.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3520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" y="48737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catalog by 40%+ through creator partnerships (Ali Wong model). Target 18-34 urban demographic. Commission 6-8 specials per quarter.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Creator-led exclusives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508760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tie-ins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697480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comedy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187952" y="1444752"/>
            <a:ext cx="3794760" cy="5074920"/>
          </a:xfrm>
          <a:prstGeom prst="rect">
            <a:avLst/>
          </a:prstGeom>
          <a:solidFill>
            <a:srgbClr val="221F1F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87952" y="1444752"/>
            <a:ext cx="379476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25112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DOCUSERIES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39712" y="1554480"/>
            <a:ext cx="100584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HIGH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25112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3912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25112" y="2221992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5112" y="22860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Titles: 381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25112" y="2523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Share: 3.8%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25112" y="2761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Growth: +28.7%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25112" y="3035808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25112" y="30906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325112" y="3310128"/>
            <a:ext cx="3520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True-crime and social docuseries drive 3.1x higher social conversation volume than scripted dramas of similar budget. The 6-episode format creates binge-completion spikes that inflate recommendation algorithm scores disproportionately.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25112" y="4572000"/>
            <a:ext cx="352044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25112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325112" y="48737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6-ep format series; leverage true-crime social engagement. Target 25-45 educated viewers. Minimum 2 flagship docuseries per quarter.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25112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25112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True-crime series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513832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3832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documentaries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702552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E509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2552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&amp; science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8193024" y="1444752"/>
            <a:ext cx="3794760" cy="5074920"/>
          </a:xfrm>
          <a:prstGeom prst="rect">
            <a:avLst/>
          </a:prstGeom>
          <a:solidFill>
            <a:srgbClr val="221F1F"/>
          </a:solidFill>
          <a:ln w="12700">
            <a:solidFill>
              <a:srgbClr val="00A8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193024" y="1444752"/>
            <a:ext cx="3794760" cy="73152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30184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 THRILLERS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10844784" y="1554480"/>
            <a:ext cx="1005840" cy="2743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44784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CRITICAL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330184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0158984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30184" y="2221992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0184" y="22860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Titles: 248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30184" y="2523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Share: 2.5%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330184" y="2761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Growth: +35.1%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330184" y="3035808"/>
            <a:ext cx="3520440" cy="0"/>
          </a:xfrm>
          <a:prstGeom prst="line">
            <a:avLst/>
          </a:prstGeom>
          <a:noFill/>
          <a:ln w="6350">
            <a:solidFill>
              <a:srgbClr val="2D2D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30184" y="30906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330184" y="3310128"/>
            <a:ext cx="3520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Squid Game effect (40M+ households in Q4 2021) proved international thrillers can achieve mainstream breakout. Korean and Spanish thrillers index 4.2x above-average for subscriber acquisition attribution — yet the segment holds only 2.5% catalog share.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330184" y="4572000"/>
            <a:ext cx="3520440" cy="3657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30184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330184" y="48737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Korean/Spanish co-productions. Budget $8-15M per series. Target globally mobile 20-40 demographic. Aim for 3 international thriller launches per year.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330184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00A8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30184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co-productions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518904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00A8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18904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thrillers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707624" y="5943600"/>
            <a:ext cx="1097280" cy="219456"/>
          </a:xfrm>
          <a:prstGeom prst="rect">
            <a:avLst/>
          </a:prstGeom>
          <a:solidFill>
            <a:srgbClr val="2D2D2D"/>
          </a:solidFill>
          <a:ln w="6350">
            <a:solidFill>
              <a:srgbClr val="00A8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707624" y="5943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Pan-Asian crime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TECHNICAL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+ 8-visual layout | 18 production-ready formulas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685800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8-VISUAL DASHBOARD LAYOUT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2004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32004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1: KPI Cards (x6)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6184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 · Movies · TV Shows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· Countries · Genres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03320" y="1234440"/>
            <a:ext cx="315468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234440"/>
            <a:ext cx="31546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325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2: Line Chart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16184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content growth trend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2019-2022 with type breakdown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32004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06040"/>
            <a:ext cx="3200400" cy="3657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97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3: Stacked Bar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9900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distribution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TV Shows split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03320" y="2606040"/>
            <a:ext cx="315468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2606040"/>
            <a:ext cx="3154680" cy="36576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697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4: Donut Chart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94760" y="2990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audience segmentation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maturity categories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320040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77640"/>
            <a:ext cx="3200400" cy="3657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69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5: Map Visual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361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count by country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3977640"/>
            <a:ext cx="315468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3977640"/>
            <a:ext cx="31546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0690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6: Scatter Plot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94760" y="43616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% vs Catalog Share 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5349240"/>
            <a:ext cx="320040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5349240"/>
            <a:ext cx="32004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5440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7: Treemap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57332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× content type hierarchy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03320" y="5349240"/>
            <a:ext cx="315468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5349240"/>
            <a:ext cx="3154680" cy="3657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54406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8: Table Matrix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94760" y="57332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 deep dive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opportunity scoring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69480" y="731520"/>
            <a:ext cx="470916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731520"/>
            <a:ext cx="54864" cy="580644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868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 (18 total)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52360" y="1252728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1252728"/>
            <a:ext cx="45720" cy="58521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71232" y="1280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Growth Rate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78408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 change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DATEADD()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452360" y="1901952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52360" y="1901952"/>
            <a:ext cx="45720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1929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Titles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84080" y="19293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+ FILTER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52360" y="2551176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52360" y="2551176"/>
            <a:ext cx="45720" cy="58521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2578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Share 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784080" y="2578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across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ALL(genre) context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452360" y="3200400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52360" y="3200400"/>
            <a:ext cx="45720" cy="585216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71232" y="3227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Score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84080" y="3227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growth 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share gap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52360" y="3849624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52360" y="3849624"/>
            <a:ext cx="45720" cy="58521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71232" y="3877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Proxy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84080" y="3877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multi-season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formula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452360" y="4498848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52360" y="4498848"/>
            <a:ext cx="45720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71232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Content 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8408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IN filter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52360" y="5148072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52360" y="5148072"/>
            <a:ext cx="45720" cy="58521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71232" y="5175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CAGR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784080" y="5175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DIVIDE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452360" y="5797296"/>
            <a:ext cx="4343400" cy="585216"/>
          </a:xfrm>
          <a:prstGeom prst="rect">
            <a:avLst/>
          </a:prstGeom>
          <a:solidFill>
            <a:srgbClr val="2D2D2D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52360" y="5797296"/>
            <a:ext cx="45720" cy="585216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5824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Freshness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784080" y="58247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AVERAGEX 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year_added delta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for content strategy teams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7863840" cy="1188720"/>
          </a:xfrm>
          <a:prstGeom prst="rect">
            <a:avLst/>
          </a:prstGeom>
          <a:solidFill>
            <a:srgbClr val="221F1F"/>
          </a:solidFill>
          <a:ln w="1016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54864" cy="1188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86968"/>
            <a:ext cx="384048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868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International Thrillers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19786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opportunity score (0.91). Korean/Spanish co-productions deliver 4.2x subscriber acquisition above average. Budget $8-15M per series. Target 3 launches/year.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00584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914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80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2880" y="2103120"/>
            <a:ext cx="7863840" cy="1188720"/>
          </a:xfrm>
          <a:prstGeom prst="rect">
            <a:avLst/>
          </a:prstGeom>
          <a:solidFill>
            <a:srgbClr val="221F1F"/>
          </a:solidFill>
          <a:ln w="1016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10312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12848"/>
            <a:ext cx="38404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1945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Stand-Up Comedy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52374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 recent growth vs 3.9% catalog share gap. Creator partnerships (10-15 specials/year) can capture rapidly growing 18-34 superfan segment at low per-unit cost.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858000" y="2240280"/>
            <a:ext cx="100584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0" y="2606040"/>
            <a:ext cx="1005840" cy="274320"/>
          </a:xfrm>
          <a:prstGeom prst="rect">
            <a:avLst/>
          </a:prstGeom>
          <a:solidFill>
            <a:srgbClr val="46D3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3429000"/>
            <a:ext cx="7863840" cy="1188720"/>
          </a:xfrm>
          <a:prstGeom prst="rect">
            <a:avLst/>
          </a:prstGeom>
          <a:solidFill>
            <a:srgbClr val="221F1F"/>
          </a:solidFill>
          <a:ln w="10160">
            <a:solidFill>
              <a:srgbClr val="00A8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429000"/>
            <a:ext cx="54864" cy="1188720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38728"/>
            <a:ext cx="384048" cy="384048"/>
          </a:xfrm>
          <a:prstGeom prst="rect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520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Docuseries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384962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recent growth. 6-episode true-crime format drives 3.1x social conversation. 2 flagship docuseries per quarter with PR-amplifiable social hooks.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0" y="356616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58000" y="393192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4754880"/>
            <a:ext cx="7863840" cy="1188720"/>
          </a:xfrm>
          <a:prstGeom prst="rect">
            <a:avLst/>
          </a:prstGeom>
          <a:solidFill>
            <a:srgbClr val="221F1F"/>
          </a:solidFill>
          <a:ln w="10160">
            <a:solidFill>
              <a:srgbClr val="46D3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4754880"/>
            <a:ext cx="54864" cy="1188720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864608"/>
            <a:ext cx="384048" cy="384048"/>
          </a:xfrm>
          <a:prstGeom prst="rect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4846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Family Content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51755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5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content at 13.4% is 21pp below Disney+ benchmark. Risk of subscriber churn on family plans. Commission 15-20 family titles per quarter to close the gap.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858000" y="4892040"/>
            <a:ext cx="10058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4892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858000" y="5257800"/>
            <a:ext cx="1005840" cy="274320"/>
          </a:xfrm>
          <a:prstGeom prst="rect">
            <a:avLst/>
          </a:prstGeom>
          <a:solidFill>
            <a:srgbClr val="E50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5257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HIGH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229600" y="749808"/>
            <a:ext cx="3749040" cy="5806440"/>
          </a:xfrm>
          <a:prstGeom prst="rect">
            <a:avLst/>
          </a:prstGeom>
          <a:solidFill>
            <a:srgbClr val="221F1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749808"/>
            <a:ext cx="54864" cy="58064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886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12480" y="1325880"/>
            <a:ext cx="256032" cy="256032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59952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10,060+ Titles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59952" y="1581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 analysis across 3 years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412480" y="207568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59952" y="20756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SQL Queries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759952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schema design to composite scoring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12480" y="2825496"/>
            <a:ext cx="256032" cy="256032"/>
          </a:xfrm>
          <a:prstGeom prst="ellipse">
            <a:avLst/>
          </a:prstGeom>
          <a:solidFill>
            <a:srgbClr val="00A8E1"/>
          </a:solidFill>
          <a:ln w="12700">
            <a:solidFill>
              <a:srgbClr val="00A8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59952" y="28254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Power BI Visuals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759952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Cross-filtered interactive dashboard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12480" y="3575304"/>
            <a:ext cx="256032" cy="256032"/>
          </a:xfrm>
          <a:prstGeom prst="ellipse">
            <a:avLst/>
          </a:prstGeom>
          <a:solidFill>
            <a:srgbClr val="46D369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59952" y="3575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6D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DAX Measures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59952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time intelligence, engagement proxies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412480" y="4325112"/>
            <a:ext cx="256032" cy="256032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59952" y="43251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 Found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759952" y="4581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Stand-Up, Docuseries, Int'l Thrillers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412480" y="507492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9952" y="5074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Model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759952" y="5330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scoring framework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412480" y="6035040"/>
            <a:ext cx="3474720" cy="0"/>
          </a:xfrm>
          <a:prstGeom prst="line">
            <a:avLst/>
          </a:prstGeom>
          <a:noFill/>
          <a:ln w="12700">
            <a:solidFill>
              <a:srgbClr val="E5091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0" y="6126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 |  Netflix Content Insights  | 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Insights Dashboard</dc:title>
  <dc:subject>PptxGenJS Presentation</dc:subject>
  <dc:creator>Data Analytics Portfolio</dc:creator>
  <cp:lastModifiedBy>Data Analytics Portfolio</cp:lastModifiedBy>
  <cp:revision>1</cp:revision>
  <dcterms:created xsi:type="dcterms:W3CDTF">2026-03-04T02:55:42Z</dcterms:created>
  <dcterms:modified xsi:type="dcterms:W3CDTF">2026-03-04T02:55:42Z</dcterms:modified>
</cp:coreProperties>
</file>